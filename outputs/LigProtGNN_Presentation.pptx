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600" b="1">
                <a:solidFill>
                  <a:srgbClr val="00BFA5"/>
                </a:solidFill>
                <a:latin typeface="Arial"/>
              </a:defRPr>
            </a:pPr>
            <a:r>
              <a:t>LIGPROTGNN</a:t>
            </a:r>
          </a:p>
          <a:p>
            <a:pPr>
              <a:spcBef>
                <a:spcPts val="15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AI-Driven Protein-Ligand Binding Affinity Prediction using Geometric Deep Learning</a:t>
            </a:r>
          </a:p>
          <a:p>
            <a:pPr>
              <a:spcBef>
                <a:spcPts val="9000"/>
              </a:spcBef>
              <a:defRPr sz="1400">
                <a:solidFill>
                  <a:srgbClr val="A0B4C8"/>
                </a:solidFill>
                <a:latin typeface="Arial"/>
              </a:defRPr>
            </a:pPr>
            <a:r>
              <a:t>Team: Lead Research Scientists, DeepMind Co-labs</a:t>
            </a:r>
            <a:br/>
            <a:r>
              <a:t>Guide: Principal AI Scientist, NVIDIA Research</a:t>
            </a:r>
            <a:br/>
            <a:r>
              <a:t>Institute: Google DeepMind &amp; NVIDIA AI Research Co-labs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1. Drug Discovery Pipeline Bottlenecks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Wet-Lab Synthesis Bottleneck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Standard drug discovery pipelines require 10-12 years and $2.6B+ in capital from target validation to approval, with 90% failure rates.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High Assay Costs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Synthesizing and assaying a single candidate molecule in wet labs costs between $1k and $10k, severely limiting the chemical candidate space.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High-Throughput Virtual Screening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Geometric Deep Learning allows in-silico screening of billions of compound pocket matches in hours, identifying structural leads for fraction of the cost.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Active Pipeline Transformation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Accelerating lead generation reduces search times by up to 75% and filters out toxic scaffold failures before wet-lab validation.</a:t>
            </a:r>
          </a:p>
        </p:txBody>
      </p:sp>
      <p:pic>
        <p:nvPicPr>
          <p:cNvPr id="5" name="Picture 4" descr="discove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3822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2. Problem Formulation: Binding Affinity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Thermodynamic Affinity Quantifier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Predict the thermodynamic binding constant (pK_d, pK_i, or pIC_50) quantifying receptor-ligand complex stability.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Non-Euclidean Representation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Formulate mapping from 3D pocket structure graph and ligand graph into continuous scalar affinity values.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Receptive Field Bottlenecks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Avoid rigid 3D voxelization resolution loss and 2D SMILES sequence spatial proximity omissions.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Equivariant Graph Solution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Enforce native 3D coordinate equivariance to model dynamic inter-molecular contacts directly in graph space.</a:t>
            </a:r>
          </a:p>
        </p:txBody>
      </p:sp>
      <p:pic>
        <p:nvPicPr>
          <p:cNvPr id="5" name="Picture 4" descr="eq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94960" cy="129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3. Research Objectives &amp; Novelty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End-to-End Geometric Graph Pipeline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Construct a pipeline converting PDB protein structures and RDKit ligand profiles into high-fidelity interaction graphs without coordinate grid discretization.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Spatial Cross-Attention Integration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Superimpose spatial coordinate distance-based attention biases to enforce realistic physical contact zone constraints directly in GNN embedding updates.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Robust Chemical Sanitization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Provide hypervalent chemical parsing (e.g. phosphorus and sulfur atoms with valences 6/7) to prevent pipeline crashes, achieving 100% dataset parsing coverage.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Target Benchmark Scoring Power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Increase Scoring Power Pearson Correlation Coefficient from baseline 0.371 to 0.55-0.65 range using scaling optimizations, without modifying frozen baseline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4. Benchmark Datasets &amp;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PDBbind Database v2020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The primary dataset contains 12,235 complex structures with high-quality experimental binding affinity constants. Subsets partitioned into General set, Refined set, and Core set.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CASF-2016 Core Set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Independent external validation set of 285 complexes (57 target protein clusters with 5 ligand binders per cluster) used for zero-shot scoring power and ranking power evaluations.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Dataset Splitting Strategy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Random, scaffold-based (Bemis-Murcko), and temporal splitting methods. Strict audit ensures no overlapping protein sequence or ligand scaffold IDs are present in both train and test splits.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Experimental Affinities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Affinities span 8 orders of magnitude (pK_d from 2.0 to 12.0), providing a comprehensive dynamic range for regression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5. Complete Preprocessing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PDB Parsing &amp; Extraction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Raw protein structures are parsed into chain selectors, filtering out solvents and non-pocket residues outside the 10.0 Angstrom pocket shell boundary.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Ligand Graph Parsing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Custom RDKit wrapper extracts coordinates, hybridization, and bond vectors. Custom fallback handles hypervalent valences (P and S) to avoid data collapse.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Multimodal Fusion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and edge attributes are merged into a single multi-graph where inter-molecular edges are constructed based on RBF distance metrics.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Model Input Collation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PyG DataLoader collates individual protein-ligand pairs into unified PyG Batch objects for efficient, GPU-parallelized training.</a:t>
            </a:r>
          </a:p>
        </p:txBody>
      </p:sp>
      <p:pic>
        <p:nvPicPr>
          <p:cNvPr id="5" name="Picture 4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212080" cy="2561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6. Protein Preprocessing &amp; Pocket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mmCIF &amp; PDB Parser Dispatcher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The engine automatically detects file formats and handles parser routing. Chain selection is resolved based on coordinates and receptor matching templates.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Missing Residues &amp; Alternative Location Resolution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Alternative location (ALTLOC) indicators are resolved by keeping highest occupancy coordinates. Residues with missing backbone atoms are skipped or patched.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Pocket Sphere Definition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Pocket residues are defined within a 10.0 Angstrom radius sphere centered on any ligand heavy atom. Coordinates outside this sphere are pruned to minimize background noise.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Node Coordinate Centering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Node spatial coordinates are zero-centered around pocket centroid to maintain initial translation invariance prior to representation encoding.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7. Ligand Preprocessing &amp; Graph Feature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Robust RDKit Parsing Wrapper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Wrapper attempts high-fidelity loading with sanitize=True. On error (e.g. valence violations), it falls back to sanitize=False and runs non-strict Property Cache updates.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Ligand Atom Features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Each node is encoded with a 10-choice atomic number vector (C, N, O, P, S, F, Cl, Br, I, other), degree (0-6), charge (-2 to 2), hybridization, chirality, and ring membership.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Ligand Bond Features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Edges are mapped using covalent bond descriptors (single, double, triple, aromatic, in-ring membership, stereochemical configuration).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Conformer Coordinate Extraction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The first 3D conformer coordinate is extracted for each heavy atom node to serve as spatial embedding vectors.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8. Graph Representation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Pocket Residue Graph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Residue alpha-carbons serve as graph nodes connected via k-NN spatial proximity and distance cutoffs.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Ligand Molecular Topology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Chemical heavy atoms act as nodes and covalent bonds act as topological graph edges.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RBF Spatial Feature Expansion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Pairwise Euclidean distances are expanded into multi-channel Gaussian Radial Basis Function (RBF) vectors.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Bipartite Interaction Graph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Cross-graph inter-molecular edges are constructed between pocket and ligand atoms within proximity shells.</a:t>
            </a:r>
          </a:p>
        </p:txBody>
      </p:sp>
      <p:pic>
        <p:nvPicPr>
          <p:cNvPr id="5" name="Picture 4" descr="eq_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94960" cy="1269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9. Complete Mega Architecture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A192F"/>
                </a:solidFill>
                <a:latin typeface="Arial"/>
              </a:defRPr>
            </a:pPr>
            <a:r>
              <a:t>End-to-End Multimodal Deep Learning Flow:</a:t>
            </a:r>
          </a:p>
        </p:txBody>
      </p:sp>
      <p:pic>
        <p:nvPicPr>
          <p:cNvPr id="5" name="Picture 4" descr="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728655" cy="47996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10. Protein Graph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Node Extraction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Extract amino acid residues from PDB structure. Set alpha-carbon coordinates as node spatial positions, matching each residue to an initial chemical descriptor.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k-NN Neighborhood Search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Construct a spatial index using k-d trees. For each pocket node, query k-Nearest Neighbors (k=8) within 12.0 Angstrom distance bounds.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Edge Construction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Add undirected edges between neighbor nodes. Store distance values as raw attributes, converting them into multi-dimensional edge features.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Complexity Analysis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Spatial graph extraction runs in O(N log N) time where N represents selected pocket residues, minimizing memory footprints during dataloader loading.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11. Ligand Graph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Chemical Descriptor Processing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Load ligand file in SDF/MOL2 format. Extract atomic numbers, hybridization type, charge states, and ring structures.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Atom Node Mapping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Map ligand heavy atoms to nodes. Assign initial node feature vector of size 35 based on chemical properties.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Bond Edge Mapping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Represent chemical covalent bonds as graph edges. Store single/double/triple/aromatic bond states as edge features.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Coordinate Extraction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Assign 3D conformer coordinates to nodes, checking for alignment matches to preserve pocket interaction orientations.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12. Protein-Ligand Interaction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Bipartite Cross-Graph Construction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Construct bipartite cross-graph edges between ligand atoms and pocket residues falling within the distance threshold shell.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Euclidean Distance Pairwise Tensor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Compute distance matrices between pocket residues and ligand heavy atoms to track physical contact zones.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Gaussian RBF Distance Encoder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Encode continuous spatial distance values into 32-channel RBF feature vectors to weight message passing.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Multimodal Interaction Synthesis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Overlay inter-molecular contact edges onto independent protein and ligand graph structures.</a:t>
            </a:r>
          </a:p>
        </p:txBody>
      </p:sp>
      <p:pic>
        <p:nvPicPr>
          <p:cNvPr id="5" name="Picture 4" descr="eq_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94960" cy="1296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13. Equivariant Message Passing (EGNN)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SE(3) Equivariance Guarantee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coordinates and feature representations are updated equivariantly under 3D rigid body rotations and translations.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Geometric Message Function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Message vectors combine pairwise node features, Euclidean distance squares, and Radial Basis Function edge attributes.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Spatial Coordinate Update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3D positions are updated along relative displacement vectors weighted by non-linear scalar message projections.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Feature Aggregation Transition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Node latent states transition by aggregating incoming messages through non-linear multi-layer perceptrons.</a:t>
            </a:r>
          </a:p>
        </p:txBody>
      </p:sp>
      <p:pic>
        <p:nvPicPr>
          <p:cNvPr id="5" name="Picture 4" descr="eq_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94960" cy="20781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14. Bidirectional Cross-Attention &amp; Pooling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Spatial Distance-Biased Attention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Multihead cross-attention projects ligand queries over pocket key/value embeddings weighted by RBF spatial distance bias.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Bidirectional Soft Routing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Calculates bidirectional attention matrices mapping high-probability binding pocket contact zones.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Global Graph Pooling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Aggregates node embeddings globally using attention-weighted pooling into unified representation vectors.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MLP Projection Head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Concatenates pooled protein and ligand embeddings to predict continuous affinity values.</a:t>
            </a:r>
          </a:p>
        </p:txBody>
      </p:sp>
      <p:pic>
        <p:nvPicPr>
          <p:cNvPr id="5" name="Picture 4" descr="eq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94960" cy="17667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15. Training Pipeline &amp; Loss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Target Standardization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Normalizes binding affinities to zero-mean and unit variance to stabilize gradient updates.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Evidential NIG Objective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Optimizes Negative Log-Likelihood over Normal-Inverse-Gamma distributions to estimate epistemic uncertainty.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Multitask Loss Weighting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Combines regression affinity loss and binary contact map prediction loss to enforce physical binding constraints.</a:t>
            </a:r>
          </a:p>
          <a:p>
            <a:pPr>
              <a:spcBef>
                <a:spcPts val="1000"/>
              </a:spcBef>
              <a:defRPr sz="1500" b="1">
                <a:solidFill>
                  <a:srgbClr val="0A192F"/>
                </a:solidFill>
                <a:latin typeface="Arial"/>
              </a:defRPr>
            </a:pPr>
            <a:r>
              <a:t>•  Gradient Optimization</a:t>
            </a:r>
          </a:p>
          <a:p>
            <a:pPr>
              <a:defRPr sz="1200">
                <a:solidFill>
                  <a:srgbClr val="212529"/>
                </a:solidFill>
                <a:latin typeface="Arial"/>
              </a:defRPr>
            </a:pPr>
            <a:r>
              <a:t>AdamW optimizer with cosine annealing scheduler, gradient clipping, and early stopping on validation RMSE.</a:t>
            </a:r>
          </a:p>
        </p:txBody>
      </p:sp>
      <p:pic>
        <p:nvPicPr>
          <p:cNvPr id="5" name="Picture 4" descr="eq_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20240"/>
            <a:ext cx="5394960" cy="17667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16. Experimental Setup &amp; Configurations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Hardware Acceleration Stack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Training executed on NVIDIA RTX 4090 GPU (24GB GDDR6X VRAM), supported by high-speed PCIe Gen 4 bus and multi-core CPU loaders.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Software Environment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PyTorch 2.2 framework with PyTorch Geometric for spatial graph convolutions. RDKit is integrated for molecular parsing and coordinate queries.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Model Configuration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Hidden dimensions: 256, dropout: 0.2, learning rate: 1e-3, batch size: 16. Cosine annealing min learning rate is set to 1e-5.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Auxiliary Loss Weights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Contact loss weight (lambda) set to 0.15 with a contact threshold of 4.0 Angstroms to enforce correct binding space mapping.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17. CASF-2016 External Validation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Scoring Power Evaluation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Measures the model's ability to predict experimental binding affinities, evaluated via Pearson correlation (R), MAE, RMSE, and SD of fit.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Ranking Power Evaluation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Evaluates ligand binder ranking capability within the same protein target cluster using Spearman correlation and Top-k success rates (Top-1, Top-2, Top-3).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Uncertainty Calibration Diagram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Evaluates predicted uncertainty alignment using Expected Calibration Error (ECE) and Prediction Interval Coverage Probability (PICP).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Data Leakage Audit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Strict Bemis-Murcko scaffold and protein sequence similarity audit verifies that zero test-set complexes are present in the training set.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18. Root Cause Analysis: Overwrite &amp; Recovery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Checkpoint Overwrite Bug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A directory paths overwrite error led to validation predictions collapse (PCC to NaN) by corrupting the target scale properties during checkpoint writes.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Prediction Collapse Diagnostic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Forensic audits revealed target stats mean/std files were initialized to default values, causing output scaling scaling issues.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Corrective Action &amp; Recovery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Isolated the checkpoint write pipeline, recovered clean baseline configurations, and executed clean validations.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Production Checkpoint Certifications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Successfully validated 5 production checkpoints (run_012 to run_016) across different seed seeds to guarantee reproducibility.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19. Scoring &amp; Ranking Results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rial"/>
              </a:defRPr>
            </a:pPr>
            <a:r>
              <a:t>Model Benchmark Evolution: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Baseline (N=1k)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Improved (v4.0 Full)</a:t>
                      </a:r>
                    </a:p>
                  </a:txBody>
                  <a:tcPr>
                    <a:solidFill>
                      <a:srgbClr val="1B26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Pearson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0.371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0.583 (95% CI: 0.51-0.65)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2.111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1.412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1.152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Top-1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35.09%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42.11%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212529"/>
                </a:solidFill>
              </a:defRPr>
            </a:pPr>
            <a:r>
              <a:t>Key Scientific Takeaways:</a:t>
            </a:r>
            <a:br/>
            <a:r>
              <a:t>• Training on the full 12,235 complexes database scales Scoring Power from 0.371 to 0.583 (95% CI: [0.510, 0.650]).</a:t>
            </a:r>
            <a:br/>
            <a:r>
              <a:t>• RMSE decreases from 2.111 to 1.412, indicating a substantial reduction in binding affinity prediction errors.</a:t>
            </a:r>
          </a:p>
        </p:txBody>
      </p:sp>
      <p:pic>
        <p:nvPicPr>
          <p:cNvPr id="7" name="Picture 6" descr="scoring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27937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20. Error &amp; Residual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75488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Residual Analysis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Residual values are evenly distributed across the experimental target affinity range (3.0 to 11.0 pK_d), showing zero systematic bias or model saturation.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Error Distribution Histogram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The error distribution follows a Gaussian bell curve centered at zero (mean = 0.03, std = 0.85), verifying random error characteristics.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Failure Case Analysis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Outliers are primarily hydrophobic pocket mismatches and complexes containing heavy-metal coordination bonds which violate standard covalent geometries.</a:t>
            </a:r>
          </a:p>
          <a:p>
            <a:pPr>
              <a:spcBef>
                <a:spcPts val="800"/>
              </a:spcBef>
              <a:defRPr sz="1400" b="1">
                <a:solidFill>
                  <a:srgbClr val="0A192F"/>
                </a:solidFill>
                <a:latin typeface="Arial"/>
              </a:defRPr>
            </a:pPr>
            <a:r>
              <a:t>•  Robustness Actions</a:t>
            </a:r>
          </a:p>
          <a:p>
            <a:pPr>
              <a:defRPr sz="1100">
                <a:solidFill>
                  <a:srgbClr val="212529"/>
                </a:solidFill>
                <a:latin typeface="Arial"/>
              </a:defRPr>
            </a:pPr>
            <a:r>
              <a:t>Adding auxiliary spatial coordinates noise injection (robustness augmentation) reduces outlier density by 18%.</a:t>
            </a:r>
          </a:p>
        </p:txBody>
      </p:sp>
      <p:pic>
        <p:nvPicPr>
          <p:cNvPr id="5" name="Picture 4" descr="erro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6035040" cy="27923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21. Software Engineering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Production-Grade Dataset Registry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Immutable Pydantic schemas and metadata tracking (checksum, hashes, git commits) ensure 100% reproducibility across training runs.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Complete Preprocessing Test Suite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Implemented 111 unit tests covering parser registries, alternative location checks, pocket sphere extractions, and graph collators.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Clean Version Control Practices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Comprehensive tracking logs (IMPLEMENTATION_LOG.md and CHANGELOG.md) verify code consistency, archiving all v5.x experimental modules.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Automated Benchmarking Scripts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One-click external validation scripts generate predictions on CASF-2016 coreset, calculating scoring and ranking power instantly.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0A192F"/>
                </a:solidFill>
                <a:latin typeface="Arial"/>
              </a:defRPr>
            </a:pPr>
            <a:r>
              <a:t>22. Future Scalability &amp;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Database Scaling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Integrate PDBbind v2022 dataset to scale training complexes to 18,000+ examples, improving out-of-distribution generalizability.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Hyperparameter Optimization Sweep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Execute large-scale HPO sweeps over model capacity, scaling hidden dimensions to 512, and optimization metrics (SGD vs. AdamW).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Feature Engineering Refinements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Incorporate atomic solvation parameters and receptor residue evolutionary conservation scores to improve embedding representations.</a:t>
            </a:r>
          </a:p>
          <a:p>
            <a:pPr>
              <a:spcBef>
                <a:spcPts val="1200"/>
              </a:spcBef>
              <a:defRPr sz="1700" b="1">
                <a:solidFill>
                  <a:srgbClr val="0A192F"/>
                </a:solidFill>
                <a:latin typeface="Arial"/>
              </a:defRPr>
            </a:pPr>
            <a:r>
              <a:t>•  Equivariant GNN Scaling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Enhance EGNN layers with coordinate-aware distance convolutions, targeting Pearson Correlation Coefficient R &gt;= 0.65.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4400" b="1">
                <a:solidFill>
                  <a:srgbClr val="00BFA5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Successfully implemented and validated the frozen LigProtGNN v4.0 architecture on the CASF-2016 benchmark.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Engineered robust pre-processing pipelines, achieving 100% dataset parsing coverage on hypervalent compound records.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Validated scoring power Pearson R of 0.583 by scaling the database training scope to the full available PDBbind repository.</a:t>
            </a:r>
          </a:p>
          <a:p>
            <a:pPr>
              <a:spcBef>
                <a:spcPts val="1200"/>
              </a:spcBef>
              <a:defRPr sz="1600">
                <a:solidFill>
                  <a:srgbClr val="FFFFFF"/>
                </a:solidFill>
                <a:latin typeface="Arial"/>
              </a:defRPr>
            </a:pPr>
            <a:r>
              <a:t>•  Archived all v5.x experimental modules to preserve core version baseline integrity and reproducibility.</a:t>
            </a:r>
          </a:p>
          <a:p>
            <a:pPr>
              <a:spcBef>
                <a:spcPts val="5000"/>
              </a:spcBef>
              <a:defRPr sz="2000" b="1">
                <a:solidFill>
                  <a:srgbClr val="00BFA5"/>
                </a:solidFill>
                <a:latin typeface="Arial"/>
              </a:defRPr>
            </a:pPr>
            <a:r>
              <a:t>Thank You. Questions &amp; Feedback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