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ProtLigGNN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Graph Neural Network for Protein–Ligand Binding Affinity Prediction
with Generative Chemistry Closed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Bachelor of Engineering — Final Year Project Review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Candidate: [Your Name] | Department: [Your Department]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Guide: [Guide Name] | Institution: [Institution Name]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1. Introduction &amp; Problem Statement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2. Data Engineering (emphasis): datasets, preprocessing, feature dimensions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3. Graph construction &amp; dimensionality flow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4. GNN algorithms &amp; training pipeline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5. Experimental results (PDBbind, CASF-2016, GenAI, docking)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6. Limitations, future work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Introduction — Drug Discovery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Protein–ligand binding affinity (pKd) quantifies how strongly a drug candidate binds its target.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Traditional high-throughput screening explores only a tiny fraction of chemical space (~10⁶⁰ drug-like molecules).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Computational methods can score candidate complexes in milliseconds from 3D structure.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ProtLigGNN predicts binding affinity from paired molecular graphs (ligand + protein pocket).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Extended with a closed loop: SMILES generation → RDKit filtering → GNN scoring → GAPS ranking → Vina docking.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Physics-based scoring functions struggle with conformational flexibility and entropy.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Sequence-only or 2D graph models ignore 3D spatial geometry of binding sites.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Generative models produce many invalid molecules without downstream filtering.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Need: a reproducible pipeline from raw PDBbind structures → graph features → affinity prediction → candidate prioritization.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Build an end-to-end data pipeline from PDBbind v2020 complexes to PyG graph pairs.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Engineer fixed-dimension node features: 78-D (ligand atoms) + 30-D (protein residues).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Train a dual-encoder GNN (GAT ligand + GCN protein) for pKd regression.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Validate externally on CASF-2016 CoreSet (285 held-out complexes, 57 ranking groups).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Integrate GenAI ligand generation with affinity-guided GAPS ranking and AutoDock Vina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Python 3 | PyTorch 2.3 | PyTorch Geometric (GATConv, GCNConv, Batch)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RDKit — ligand parsing, SMILES validity, QED/Lipinski descriptors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BioPython — PDB parsing, amino-acid pocket extraction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NumPy, SciPy, scikit-learn, pandas, matplotlib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AutoDock Vina + Open Babel — secondary docking validation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pytest — 111 unit/integration tests (100% pass rate, FINAL_VALIDATION_REPORT.md)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DATA — 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Data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PDBbind v2020 (general set): 19,443 protein–ligand complexes with measured binding constants.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Training experiments: 5,000 complexes sampled from PDBbind (max_samples flag).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Split: 80% train / 10% validation / 10% test (random, seed-controlled).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CASF-2016 CoreSet: 285 complexes in 57 target groups — strict external benchmark (never seen in training).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Target variable: pKd = −log₁₀(Kd in molar units), parsed from INDEX_general_PL.2020R1.lst.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DATA — Raw Input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Data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Per complex: {pdb_id}_protein.pdb + {pdb_id}_ligand.sdf (or .mol2 fallback).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Index file maps PDB ID → binding constant (Kd, Ki, IC50) → converted to pKd.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Discovery: recursive scan of pdbbind_subset/{year}/{pdb_id}/ directories.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Ligand loader: SDF with sanitize=True; fallback unsanitized SDF or MOL2 on valency errors.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Requirement: ligand must have a 3D conformer (GetNumConformers &gt; 0) — complexes without 3D coords are skipped.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DATA — Target Label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Data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Affinity index regex extracts numeric binding constants from PDBbind INDEX file.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Units normalized to molar; pKd = −log₁₀(Kd_M).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Optional z-score target normalization (--target_normalization) from train-set statistics.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Default: raw pKd regression with MSE loss (not normalized).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Typical pKd range in dataset: ~2 to 12 (nanomolar to femtomolar binders).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DATA — Ligand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Data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Input: SDF/MOL2 with 3D coordinates → RDKit Mol object.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Graph nodes = atoms; undirected bonds → bidirectional edges in edge_index.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3D positions stored separately in pos tensor (N_atoms × 3) for geometry modules.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CASF preprocessing audit: 285/285 complexes processed in 21.02 s (100% success).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32.28% required MOL2 fallback due to SDF sanitization/valency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DATA — Ligand Feature Vector (78-D)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Data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Atomic number one-hot (10 classes + unknown): C, N, O, S, halogens, P, B, etc.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Degree, formal charge, hybridization, H-count, implicit/total valence one-hots.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Chirality tag, ring membership (3–8 member rings), aromaticity flags.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Normalized: mass, VdW radius, covalent radius, isotope, radical electrons.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Pharmacophore flags: H-bond donor/acceptor, acidic/basic, halogen, metal.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Fixed LIGAND_FEATURE_DIM = 78 (enforced at runtime in protliggnn_train.py).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DATA — Protein Pocket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Data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Parse PDB with BioPython PDBParser; standard amino acids only (is_aa).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Pocket definition: residues with any heavy atom within 6.0 Å of any ligand atom.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Residue center: Cα coordinate, or centroid of heavy atoms if Cα missing.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Hydrogens excluded from distance calculations for pocket selection.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Typical pocket size: 20–80 residues depending on ligand size and binding site depth.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DATA — Protein Feature Vector (30-D)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Data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20-D amino-acid one-hot (ALA, ARG, … VAL).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5-D physicochemical group flags: aromatic, hydrophobic, polar, positive, negative.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Special residue flags: GLY, PRO, Cα presence.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Normalized residue mass (÷250) and heavy-atom count proxy (÷10).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Fixed PROTEIN_FEATURE_DIM = 30 (enforced at runtime).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Edge construction: connect residues with centers within 8.0 Å (sequential fallback if isolated).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DATA — Graph Topology &amp; Dimensionality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Data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Ligand graph: (N_lig × 78) → GAT encoder → (N_lig × 256).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Protein graph: (N_prot × 30) → GCN encoder → (N_prot × 256).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Global mean pool → ligand vector (256) + protein vector (256) = joint (512).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MLP regressor: 512 → 512 → 128 → 1 (Dropout 0.2/0.1).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No PCA/StandardScaler on input features during training — dimensionality is fixed by design.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Embedding analysis (post-hoc): PCA on GNN embeddings shows PC2 vs affinity R = −0.31.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DATA — Quality, Splits &amp; Reproducibility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Data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Train/val/test: 80/10/10 random split with configurable seed.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Skipped complexes logged with reason (missing conformer, parse failure, no affinity label).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LigProtGNN-X framework: Pydantic-validated dataset registry + frozen v4.0 config.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Graph caching &amp; mixed-precision (v1.1): ~66% epoch time reduction for benchmarking.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111 pytest tests across preprocessing, models, uncertainty, explainability modules.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ALGORITHM — ProtLigGNN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Model &amp;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Dual heterogeneous graphs: ligand (atom-level) + protein pocket (residue-level).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Ligand encoder: 3× GATConv layers (4 heads → 4 heads → 1 head), hidden_dim=256.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Protein encoder: 3× GCNConv layers, hidden_dim=256, ReLU + LayerNorm.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Optional cross-graph bidirectional MultiheadAttention (4 heads) — ablated in best run.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Output: scalar pKd prediction via MSE regression.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ALGORITHM — Encoder &amp; Fusion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Model &amp;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GAT: attention-weighted message passing captures important atomic interactions.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GCN: efficient convolution over residue adjacency within binding pocket.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Cross-attention (when enabled): ligand atoms attend to protein residues and vice versa.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Best run used --no_crossgraph: separate encoders + concat pooled embeddings.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Extended variants (LigProtGNN-X): geometry attention (RBF bias), EGNN, ESM-2+ChemBERTa hybrid.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ALGORITHM — Training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Model &amp;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Optimizer: Adam (lr=1e-3, weight decay=1e-5); batch size=8.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Epochs: 40–50; early stopping patience=10 on validation RMSE.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Loss: MSE on pKd; metrics: PCC, Spearman, RMSE, MAE.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Best checkpoint saved by lowest val RMSE; restored before test evaluation.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Device: CPU/GPU; outputs: checkpoint .pt, epoch CSV, test predictions CSV, scatter plots.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RESULTS — PDBbind Internal Test (Best Run)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Experimental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Run: no_crossgraph_5000_e40 | Best epoch: 16 | Samples: 5,000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Pearson Correlation (PCC): 0.6714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Spearman: 0.6624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RMSE: 1.3722 pKd units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MAE: 1.0677 pKd units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Source: outputs/final_research_package/key_metrics_table.md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RESULTS — Architecture Ablation (5,000 samples, 40 epochs)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Experimental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no_crossgraph_5000_e40 — PCC 0.6714 | Spearman 0.6624 | RMSE 1.3722 | MAE 1.0677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crossgraph_5000_e40 — PCC 0.6570 | Spearman 0.6495 | RMSE 1.3853 | MAE 1.0642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crossgraph_attention_5000_e40 — PCC 0.6023 | Spearman 0.5777 | RMSE 1.4905 | MAE 1.1832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Finding: simpler no-crossgraph variant generalizes best on this split.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Sample-size ablation (500 vs 2000): PCC improves from ~0.34 to ~0.51 with more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RESULTS — CASF-2016 External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Experimental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Coverage: 285/285 complexes, 57 ranking groups.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Scoring — Pearson R: 0.371 (95% CI [0.275, 0.461])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Scoring — Spearman: 0.385 | RMSE: 2.111 | MAE: 1.705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Scoring — R²: 0.054 (expected generalization gap vs internal test)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Ranking — Top-1: 35.09% | Top-2: 52.63% | Top-3: 73.68%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Source: reports/CASF_Evaluation/14_Final_Benchmark_Report.md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RESULTS — GenAI Closed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Experimental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Pipeline: PDBbind SMILES → char-level LSTM → RDKit filter → ProtLigGNN score → GAPS rank → Vina.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GAPS = Generative Affinity Prioritization Score (affinity + novelty + QED + diversity).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Generated: 10,000 molecules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RDKit-valid: 6,056 (60.56%)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Unique valid: 4,151 | Novel unique: 3,894 (93.81% novelty)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Novelty = not present in PDBbind training ligand set.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RESULTS — Docking Validation &amp; Top Candidates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Experimental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Best generated Vina score: -7.8 kcal/mol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Best SMILES: NS(=O)(=O)c1cccc(-c2cc(C(F)(F)F)ccc2O)c1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ProtLigGNN predicted pKd: 7.37 | GAPS: 0.79 | QED: 0.89 | Lipinski violations: 0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Known binder example: PDB 5kqy — predicted 9.25 vs true 9.29 (|error| = 0.04)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Top generated candidates: Vina scores −6.2 to −7.8 kcal/mol (secondary validation only).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RESULTS — Software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567E"/>
                </a:solidFill>
                <a:latin typeface="Calibri"/>
              </a:rPr>
              <a:t>Experimental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Unit/integration tests: 111 tests — 100% pass rate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Phases certified: dataset registry, protein parser, geometry attention, uncertainty, robustness.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LigProtGNN-X v4.0 architecture frozen (ARCHITECTURE_FREEZE.md, July 2026).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Multi-seed benchmark (Phase 5.5): val Pearson 0.834–0.852 across 5 seeds.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All metrics sourced from logged CSV/JSON artifacts — reproducible via protliggnn_train.py.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No wet-lab experimental binding validation — all results are computational.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CASF external Pearson (~0.37) &lt;&lt; internal PDBbind PCC (~0.67) — domain shift expected.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SMILES LSTM is lightweight; chemical quality depends on RDKit post-filtering.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Future: transformer/graph generators, protein-conditioned generation, MD validation.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Future: active learning loop from GAPS-ranked candidates.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Built a complete data-to-prediction pipeline: 78-D + 30-D features → dual GNN → pKd.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Best internal test: PCC 0.6714, RMSE 1.3722 on 5,000 PDBbind complexes.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External CASF-2016 validation confirms ranking capability (73.68% top-3 success).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Closed-loop GenAI integration: 60.56% validity, 93.81% novelty, Vina −7.8 kcal/mol best.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