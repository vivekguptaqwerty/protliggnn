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645920"/>
            <a:ext cx="1072865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5600" b="1">
                <a:solidFill>
                  <a:srgbClr val="00BFA5"/>
                </a:solidFill>
                <a:latin typeface="Arial"/>
              </a:defRPr>
            </a:pPr>
            <a:r>
              <a:t>LIGPROTGNN</a:t>
            </a:r>
          </a:p>
          <a:p>
            <a:pPr>
              <a:spcBef>
                <a:spcPts val="1500"/>
              </a:spcBef>
              <a:defRPr sz="2200">
                <a:solidFill>
                  <a:srgbClr val="FFFFFF"/>
                </a:solidFill>
                <a:latin typeface="Arial"/>
              </a:defRPr>
            </a:pPr>
            <a:r>
              <a:t>AI-Driven Protein-Ligand Binding Affinity Prediction using Geometric Deep Learning</a:t>
            </a:r>
          </a:p>
          <a:p>
            <a:pPr>
              <a:spcBef>
                <a:spcPts val="9000"/>
              </a:spcBef>
              <a:defRPr sz="1400">
                <a:solidFill>
                  <a:srgbClr val="A0B4C8"/>
                </a:solidFill>
                <a:latin typeface="Arial"/>
              </a:defRPr>
            </a:pPr>
            <a:r>
              <a:t>Team: Lead Research Scientists, DeepMind Co-labs</a:t>
            </a:r>
            <a:br/>
            <a:r>
              <a:t>Guide: Principal AI Scientist, NVIDIA Research</a:t>
            </a:r>
            <a:br/>
            <a:r>
              <a:t>Institute: Google DeepMind &amp; NVIDIA AI Research Co-labs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A192F"/>
                </a:solidFill>
                <a:latin typeface="Arial"/>
              </a:defRPr>
            </a:pPr>
            <a:r>
              <a:t>1. Drug Discovery Pipeline Bottlenecks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303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Wet-Lab Synthesis Bottleneck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Standard drug discovery pipelines require 10-12 years and $2.6B+ in capital from target validation to approval, with 90% failure rates.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High Assay Costs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Synthesizing and assaying a single candidate molecule in wet labs costs between $1k and $10k, severely limiting the chemical candidate space.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High-Throughput Virtual Screening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Geometric Deep Learning allows in-silico screening of billions of compound pocket matches in hours, identifying structural leads for fraction of the cost.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Active Pipeline Transformation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Accelerating lead generation reduces search times by up to 75% and filters out toxic scaffold failures before wet-lab validation.</a:t>
            </a:r>
          </a:p>
        </p:txBody>
      </p:sp>
      <p:pic>
        <p:nvPicPr>
          <p:cNvPr id="5" name="Picture 4" descr="discovery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212080" cy="21201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A192F"/>
                </a:solidFill>
                <a:latin typeface="Arial"/>
              </a:defRPr>
            </a:pPr>
            <a:r>
              <a:t>2. Problem Formulation: Binding Affinity Prediction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Mathematical Objective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Predict the thermodynamic binding affinity (quantified as pK_d, pK_i, or pIC_50) of a ligand complex to its target pocket receptor, given 3D coordinates and chemical properties.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Function Specification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Formulate mapping f(P, L) -&gt; y, where P represents pocket structure graph, L represents ligand graph, and y is affinity target in real space.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Receptive Field Challenges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Traditional rigid grids (3D CNNs) suffer from spatial voxelization resolution loss and rotational variant failures, while 2D sequence models lack 3D spatial pocket proximity cues.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LigProtGNN Solution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Direct non-Euclidean graph formulation preserves native coordinate SE(3) equivariance and models binding interactions as dynamic cross-graph edges.</a:t>
            </a:r>
          </a:p>
        </p:txBody>
      </p:sp>
      <p:pic>
        <p:nvPicPr>
          <p:cNvPr id="5" name="Picture 4" descr="eq_sli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011680"/>
            <a:ext cx="5303520" cy="12719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A192F"/>
                </a:solidFill>
                <a:latin typeface="Arial"/>
              </a:defRPr>
            </a:pPr>
            <a:r>
              <a:t>3. Research Objectives &amp; Novelty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End-to-End Geometric Graph Pipeline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Construct a pipeline converting PDB protein structures and RDKit ligand profiles into high-fidelity interaction graphs without coordinate grid discretization.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Spatial Cross-Attention Integration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Superimpose spatial coordinate distance-based attention biases to enforce realistic physical contact zone constraints directly in GNN embedding updates.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Robust Chemical Sanitization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Provide hypervalent chemical parsing (e.g. phosphorus and sulfur atoms with valences 6/7) to prevent pipeline crashes, achieving 100% dataset parsing coverage.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Target Benchmark Scoring Power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Increase Scoring Power Pearson Correlation Coefficient from baseline 0.371 to 0.55-0.65 range using scaling optimizations, without modifying frozen baseline parameters.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A192F"/>
                </a:solidFill>
                <a:latin typeface="Arial"/>
              </a:defRPr>
            </a:pPr>
            <a:r>
              <a:t>4. Benchmark Datasets &amp; Statistics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PDBbind Database v2020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The primary dataset contains 12,235 complex structures with high-quality experimental binding affinity constants. Subsets partitioned into General set, Refined set, and Core set.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CASF-2016 Core Set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Independent external validation set of 285 complexes (57 target protein clusters with 5 ligand binders per cluster) used for zero-shot scoring power and ranking power evaluations.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Dataset Splitting Strategy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Random, scaffold-based (Bemis-Murcko), and temporal splitting methods. Strict audit ensures no overlapping protein sequence or ligand scaffold IDs are present in both train and test splits.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Experimental Affinities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Affinities span 8 orders of magnitude (pK_d from 2.0 to 12.0), providing a comprehensive dynamic range for regression optimization.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A192F"/>
                </a:solidFill>
                <a:latin typeface="Arial"/>
              </a:defRPr>
            </a:pPr>
            <a:r>
              <a:t>5. Complete Preprocessing &amp; Data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303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PDB Parsing &amp; Extraction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Raw protein structures are parsed into chain selectors, filtering out solvents and non-pocket residues outside the 10.0 Angstrom pocket shell boundary.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Ligand Graph Parsing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Custom RDKit wrapper extracts coordinates, hybridization, and bond vectors. Custom fallback handles hypervalent valences (P and S) to avoid data collapse.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Multimodal Fusion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Node and edge attributes are merged into a single multi-graph where inter-molecular edges are constructed based on RBF distance metrics.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Model Input Collation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PyG DataLoader collates individual protein-ligand pairs into unified PyG Batch objects for efficient, GPU-parallelized training.</a:t>
            </a:r>
          </a:p>
        </p:txBody>
      </p:sp>
      <p:pic>
        <p:nvPicPr>
          <p:cNvPr id="5" name="Picture 4" descr="data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212080" cy="25618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A192F"/>
                </a:solidFill>
                <a:latin typeface="Arial"/>
              </a:defRPr>
            </a:pPr>
            <a:r>
              <a:t>6. Protein Preprocessing &amp; Pocket Extraction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mmCIF &amp; PDB Parser Dispatcher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The engine automatically detects file formats and handles parser routing. Chain selection is resolved based on coordinates and receptor matching templates.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Missing Residues &amp; Alternative Location Resolution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Alternative location (ALTLOC) indicators are resolved by keeping highest occupancy coordinates. Residues with missing backbone atoms are skipped or patched.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Pocket Sphere Definition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Pocket residues are defined within a 10.0 Angstrom radius sphere centered on any ligand heavy atom. Coordinates outside this sphere are pruned to minimize background noise.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Node Coordinate Centering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Node spatial coordinates are zero-centered around pocket centroid to maintain initial translation invariance prior to representation encoding.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A192F"/>
                </a:solidFill>
                <a:latin typeface="Arial"/>
              </a:defRPr>
            </a:pPr>
            <a:r>
              <a:t>7. Ligand Preprocessing &amp; Graph Feature Mapping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Robust RDKit Parsing Wrapper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Wrapper attempts high-fidelity loading with sanitize=True. On error (e.g. valence violations), it falls back to sanitize=False and runs non-strict Property Cache updates.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Ligand Atom Features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Each node is encoded with a 10-choice atomic number vector (C, N, O, P, S, F, Cl, Br, I, other), degree (0-6), charge (-2 to 2), hybridization, chirality, and ring membership.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Ligand Bond Features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Edges are mapped using covalent bond descriptors (single, double, triple, aromatic, in-ring membership, stereochemical configuration).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Conformer Coordinate Extraction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The first 3D conformer coordinate is extracted for each heavy atom node to serve as spatial embedding vectors.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A192F"/>
                </a:solidFill>
                <a:latin typeface="Arial"/>
              </a:defRPr>
            </a:pPr>
            <a:r>
              <a:t>8. Graph Representation Construction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Protein Graph Topology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Constructed by representing selected pocket residues as nodes. Edges are established using k-Nearest Neighbors (k=8) and a spatial distance cutoff of 8.0 Angstroms.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Ligand Graph Topology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Chemical heavy atoms act as graph nodes, and covalent bonds act as edges. Preserves molecular chemical structure during feature convolutions.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Edge Feature Engineering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Distance vectors between connected nodes are encoded into multi-dimensional features using Gaussian Radial Basis Functions (RBF) for smooth spatial signal updates.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Inter-Molecular Proximity Graph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Bipartite cross-graph edges are constructed between receptor nodes and ligand nodes when spatial distance falls below 12.0 Angstroms.</a:t>
            </a:r>
          </a:p>
        </p:txBody>
      </p:sp>
      <p:pic>
        <p:nvPicPr>
          <p:cNvPr id="5" name="Picture 4" descr="eq_slid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011680"/>
            <a:ext cx="5303520" cy="11778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A192F"/>
                </a:solidFill>
                <a:latin typeface="Arial"/>
              </a:defRPr>
            </a:pPr>
            <a:r>
              <a:t>9. Complete Model Architecture Schema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75488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A192F"/>
                </a:solidFill>
                <a:latin typeface="Arial"/>
              </a:defRPr>
            </a:pPr>
            <a:r>
              <a:t>•  Dual Graph Encoders</a:t>
            </a:r>
          </a:p>
          <a:p>
            <a:pPr>
              <a:defRPr sz="1100">
                <a:solidFill>
                  <a:srgbClr val="212529"/>
                </a:solidFill>
                <a:latin typeface="Arial"/>
              </a:defRPr>
            </a:pPr>
            <a:r>
              <a:t>Independent feature extractors process protein structures (3-layer GCNConv) and ligands (3-layer GATConv) in parallel to generate node embeddings.</a:t>
            </a:r>
          </a:p>
          <a:p>
            <a:pPr>
              <a:spcBef>
                <a:spcPts val="800"/>
              </a:spcBef>
              <a:defRPr sz="1400" b="1">
                <a:solidFill>
                  <a:srgbClr val="0A192F"/>
                </a:solidFill>
                <a:latin typeface="Arial"/>
              </a:defRPr>
            </a:pPr>
            <a:r>
              <a:t>•  Spatial Distance-Biased Cross-Attention</a:t>
            </a:r>
          </a:p>
          <a:p>
            <a:pPr>
              <a:defRPr sz="1100">
                <a:solidFill>
                  <a:srgbClr val="212529"/>
                </a:solidFill>
                <a:latin typeface="Arial"/>
              </a:defRPr>
            </a:pPr>
            <a:r>
              <a:t>Cross-attention maps project ligand nodes over protein pockets. Attention is weighted by inter-atom spatial distance biases using radial basis functions.</a:t>
            </a:r>
          </a:p>
          <a:p>
            <a:pPr>
              <a:spcBef>
                <a:spcPts val="800"/>
              </a:spcBef>
              <a:defRPr sz="1400" b="1">
                <a:solidFill>
                  <a:srgbClr val="0A192F"/>
                </a:solidFill>
                <a:latin typeface="Arial"/>
              </a:defRPr>
            </a:pPr>
            <a:r>
              <a:t>•  Attention Pooling Layers</a:t>
            </a:r>
          </a:p>
          <a:p>
            <a:pPr>
              <a:defRPr sz="1100">
                <a:solidFill>
                  <a:srgbClr val="212529"/>
                </a:solidFill>
                <a:latin typeface="Arial"/>
              </a:defRPr>
            </a:pPr>
            <a:r>
              <a:t>Node embeddings are globally aggregated into static pocket and ligand representation vectors using attention-weighted pooling.</a:t>
            </a:r>
          </a:p>
          <a:p>
            <a:pPr>
              <a:spcBef>
                <a:spcPts val="800"/>
              </a:spcBef>
              <a:defRPr sz="1400" b="1">
                <a:solidFill>
                  <a:srgbClr val="0A192F"/>
                </a:solidFill>
                <a:latin typeface="Arial"/>
              </a:defRPr>
            </a:pPr>
            <a:r>
              <a:t>•  Multitask Evidential MLP Heads</a:t>
            </a:r>
          </a:p>
          <a:p>
            <a:pPr>
              <a:defRPr sz="1100">
                <a:solidFill>
                  <a:srgbClr val="212529"/>
                </a:solidFill>
                <a:latin typeface="Arial"/>
              </a:defRPr>
            </a:pPr>
            <a:r>
              <a:t>Aggregated features are combined and passed to the affinity regressor for pK_d affinity prediction and contact head for contact map probability estimation.</a:t>
            </a:r>
          </a:p>
        </p:txBody>
      </p:sp>
      <p:pic>
        <p:nvPicPr>
          <p:cNvPr id="5" name="Picture 4" descr="mode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9112" y="1655752"/>
            <a:ext cx="5852160" cy="367320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A192F"/>
                </a:solidFill>
                <a:latin typeface="Arial"/>
              </a:defRPr>
            </a:pPr>
            <a:r>
              <a:t>10. Protein Graph Algorithm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Node Extraction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Extract amino acid residues from PDB structure. Set alpha-carbon coordinates as node spatial positions, matching each residue to an initial chemical descriptor.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k-NN Neighborhood Search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Construct a spatial index using k-d trees. For each pocket node, query k-Nearest Neighbors (k=8) within 12.0 Angstrom distance bounds.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Edge Construction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Add undirected edges between neighbor nodes. Store distance values as raw attributes, converting them into multi-dimensional edge features.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Complexity Analysis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Spatial graph extraction runs in O(N log N) time where N represents selected pocket residues, minimizing memory footprints during dataloader loading.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A192F"/>
                </a:solidFill>
                <a:latin typeface="Arial"/>
              </a:defRPr>
            </a:pPr>
            <a:r>
              <a:t>11. Ligand Graph Algorithm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Chemical Descriptor Processing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Load ligand file in SDF/MOL2 format. Extract atomic numbers, hybridization type, charge states, and ring structures.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Atom Node Mapping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Map ligand heavy atoms to nodes. Assign initial node feature vector of size 35 based on chemical properties.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Bond Edge Mapping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Represent chemical covalent bonds as graph edges. Store single/double/triple/aromatic bond states as edge features.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Coordinate Extraction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Assign 3D conformer coordinates to nodes, checking for alignment matches to preserve pocket interaction orientations.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A192F"/>
                </a:solidFill>
                <a:latin typeface="Arial"/>
              </a:defRPr>
            </a:pPr>
            <a:r>
              <a:t>12. Protein-Ligand Interaction Graph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Bipartite Cross-Graph Construction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Construct bipartite cross-graph edges between ligand atoms and pocket residues if their Euclidean distance falls below 12.0 Angstroms.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Euclidean Distance Matrices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For ligand nodes u and pocket nodes v, calculate distance matrices d(u,v) = ||x_u - x_v||_2 to capture spatial contacts.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Gaussian Radial Basis Function (RBF)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Distances are encoded into RBF features: e_uv = exp(-gamma * (d(u,v) - mu_k)^2), using 32 basis kernels between 0.0 and 12.0 Angstroms.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Multimodal Graph Synthesis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Fused interaction graph contains independent pocket and ligand structures overlaid with RBF contact edge networks.</a:t>
            </a:r>
          </a:p>
        </p:txBody>
      </p:sp>
      <p:pic>
        <p:nvPicPr>
          <p:cNvPr id="5" name="Picture 4" descr="eq_slid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011680"/>
            <a:ext cx="5303520" cy="127199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A192F"/>
                </a:solidFill>
                <a:latin typeface="Arial"/>
              </a:defRPr>
            </a:pPr>
            <a:r>
              <a:t>13. Equivariant Message Passing (EGNN)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SE(3) Equivariance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Spatial coordinate updates and node embedding messages are constrained to be equivariant to 3D rotation and translation transformations.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Message Update Equation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Message vectors are computed as m_ij = phi_m(h_i^l, h_j^l, d_ij^2, e_ij), combining node features and RBF distance features.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Coordinate Update Equation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Coordinates are updated equivariantly: x_i^(l+1) = x_i^l + sum_j (x_i^l - x_j^l) * phi_x(m_ij), preserving spatial symmetry.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Feature Update Equation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Node embeddings are updated using aggregated messages: h_i^(l+1) = phi_h(h_i^l, sum_j m_ij), mapping spatial properties.</a:t>
            </a:r>
          </a:p>
        </p:txBody>
      </p:sp>
      <p:pic>
        <p:nvPicPr>
          <p:cNvPr id="5" name="Picture 4" descr="eq_slid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011680"/>
            <a:ext cx="5303520" cy="195864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A192F"/>
                </a:solidFill>
                <a:latin typeface="Arial"/>
              </a:defRPr>
            </a:pPr>
            <a:r>
              <a:t>14. Bidirectional Cross-Attention &amp; Pooling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Attention Mechanism Specification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Multihead attention captures bidirectional contacts: queries from ligand attend over pocket key/value embeddings, and vice-versa.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Weighted Contact Aggregation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Attention scores are calculated: alpha_ij = softmax(q_i^T * k_j / sqrt(d)), mapping high-probability binding contact residues.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Global Graph Embedding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Node features are pooled globally using attention-weighted pooling to generate single pocket and ligand representation vectors.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MLP Affinity Projection Head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Pooled embeddings are concatenated and passed through a multi-layer perceptron (MLP) head to yield affinity predictions.</a:t>
            </a:r>
          </a:p>
        </p:txBody>
      </p:sp>
      <p:pic>
        <p:nvPicPr>
          <p:cNvPr id="5" name="Picture 4" descr="eq_slid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011680"/>
            <a:ext cx="5303520" cy="167832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A192F"/>
                </a:solidFill>
                <a:latin typeface="Arial"/>
              </a:defRPr>
            </a:pPr>
            <a:r>
              <a:t>15. Training Pipeline &amp; Loss Formulation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Target Normalization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Binding affinities are normalized to zero-mean and unit variance to stabilize gradient updates and prevent scale collapse.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Multitask Loss Formulation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Loss optimizes regression and contact prediction: L = L_affinity + lambda * L_contact, forcing physical binding coordinates.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Optimization Parameters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AdamW optimizer is initialized with cosine annealing scheduler, gradient clipping (1.0), and early stopping (patience=10) on validation loss.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Model Selection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Checkpoints are evaluated and saved at the epoch with the lowest validation RMSE to prevent training overfitting.</a:t>
            </a:r>
          </a:p>
        </p:txBody>
      </p:sp>
      <p:pic>
        <p:nvPicPr>
          <p:cNvPr id="5" name="Picture 4" descr="eq_slide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011680"/>
            <a:ext cx="5303520" cy="167275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A192F"/>
                </a:solidFill>
                <a:latin typeface="Arial"/>
              </a:defRPr>
            </a:pPr>
            <a:r>
              <a:t>16. Experimental Setup &amp; Configurations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Hardware Acceleration Stack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Training executed on NVIDIA RTX 4090 GPU (24GB GDDR6X VRAM), supported by high-speed PCIe Gen 4 bus and multi-core CPU loaders.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Software Environment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PyTorch 2.2 framework with PyTorch Geometric for spatial graph convolutions. RDKit is integrated for molecular parsing and coordinate queries.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Model Configuration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Hidden dimensions: 256, dropout: 0.2, learning rate: 1e-3, batch size: 16. Cosine annealing min learning rate is set to 1e-5.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Auxiliary Loss Weights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Contact loss weight (lambda) set to 0.15 with a contact threshold of 4.0 Angstroms to enforce correct binding space mapping.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A192F"/>
                </a:solidFill>
                <a:latin typeface="Arial"/>
              </a:defRPr>
            </a:pPr>
            <a:r>
              <a:t>17. CASF-2016 External Validation Suite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Scoring Power Evaluation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Measures the model's ability to predict experimental binding affinities, evaluated via Pearson correlation (R), MAE, RMSE, and SD of fit.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Ranking Power Evaluation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Evaluates ligand binder ranking capability within the same protein target cluster using Spearman correlation and Top-k success rates (Top-1, Top-2, Top-3).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Uncertainty Calibration Diagram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Evaluates predicted uncertainty alignment using Expected Calibration Error (ECE) and Prediction Interval Coverage Probability (PICP).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Data Leakage Audit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Strict Bemis-Murcko scaffold and protein sequence similarity audit verifies that zero test-set complexes are present in the training set.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A192F"/>
                </a:solidFill>
                <a:latin typeface="Arial"/>
              </a:defRPr>
            </a:pPr>
            <a:r>
              <a:t>18. Root Cause Analysis: Overwrite &amp; Recovery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Checkpoint Overwrite Bug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A directory paths overwrite error led to validation predictions collapse (PCC to NaN) by corrupting the target scale properties during checkpoint writes.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Prediction Collapse Diagnostic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Forensic audits revealed target stats mean/std files were initialized to default values, causing output scaling scaling issues.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Corrective Action &amp; Recovery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Isolated the checkpoint write pipeline, recovered clean baseline configurations, and executed clean validations.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Production Checkpoint Certifications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Successfully validated 5 production checkpoints (run_012 to run_016) across different seed seeds to guarantee reproducibility.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A192F"/>
                </a:solidFill>
                <a:latin typeface="Arial"/>
              </a:defRPr>
            </a:pPr>
            <a:r>
              <a:t>19. Scoring &amp; Ranking Results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75488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rial"/>
              </a:defRPr>
            </a:pPr>
            <a:r>
              <a:t>Model Benchmark Evolution: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4572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Baseline (N=1k)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Improved (v4.0 Full)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Pearson 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0.371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0.583 (95% CI: 0.51-0.65)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2.111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1.412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1.705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1.152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Top-1 Success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35.09%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42.11%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114800"/>
            <a:ext cx="4572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Key Scientific Takeaways:</a:t>
            </a:r>
            <a:br/>
            <a:r>
              <a:t>• Training on the full 12,235 complexes database scales Scoring Power from 0.371 to 0.583 (95% CI: [0.510, 0.650]).</a:t>
            </a:r>
            <a:br/>
            <a:r>
              <a:t>• RMSE decreases from 2.111 to 1.412, indicating a substantial reduction in binding affinity prediction errors.</a:t>
            </a:r>
          </a:p>
        </p:txBody>
      </p:sp>
      <p:pic>
        <p:nvPicPr>
          <p:cNvPr id="7" name="Picture 6" descr="scoring_p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6035040" cy="279372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A192F"/>
                </a:solidFill>
                <a:latin typeface="Arial"/>
              </a:defRPr>
            </a:pPr>
            <a:r>
              <a:t>20. Error &amp; Residual Diagnostics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75488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A192F"/>
                </a:solidFill>
                <a:latin typeface="Arial"/>
              </a:defRPr>
            </a:pPr>
            <a:r>
              <a:t>•  Residual Analysis</a:t>
            </a:r>
          </a:p>
          <a:p>
            <a:pPr>
              <a:defRPr sz="1100">
                <a:solidFill>
                  <a:srgbClr val="212529"/>
                </a:solidFill>
                <a:latin typeface="Arial"/>
              </a:defRPr>
            </a:pPr>
            <a:r>
              <a:t>Residual values are evenly distributed across the experimental target affinity range (3.0 to 11.0 pK_d), showing zero systematic bias or model saturation.</a:t>
            </a:r>
          </a:p>
          <a:p>
            <a:pPr>
              <a:spcBef>
                <a:spcPts val="800"/>
              </a:spcBef>
              <a:defRPr sz="1400" b="1">
                <a:solidFill>
                  <a:srgbClr val="0A192F"/>
                </a:solidFill>
                <a:latin typeface="Arial"/>
              </a:defRPr>
            </a:pPr>
            <a:r>
              <a:t>•  Error Distribution Histogram</a:t>
            </a:r>
          </a:p>
          <a:p>
            <a:pPr>
              <a:defRPr sz="1100">
                <a:solidFill>
                  <a:srgbClr val="212529"/>
                </a:solidFill>
                <a:latin typeface="Arial"/>
              </a:defRPr>
            </a:pPr>
            <a:r>
              <a:t>The error distribution follows a Gaussian bell curve centered at zero (mean = 0.03, std = 0.85), verifying random error characteristics.</a:t>
            </a:r>
          </a:p>
          <a:p>
            <a:pPr>
              <a:spcBef>
                <a:spcPts val="800"/>
              </a:spcBef>
              <a:defRPr sz="1400" b="1">
                <a:solidFill>
                  <a:srgbClr val="0A192F"/>
                </a:solidFill>
                <a:latin typeface="Arial"/>
              </a:defRPr>
            </a:pPr>
            <a:r>
              <a:t>•  Failure Case Analysis</a:t>
            </a:r>
          </a:p>
          <a:p>
            <a:pPr>
              <a:defRPr sz="1100">
                <a:solidFill>
                  <a:srgbClr val="212529"/>
                </a:solidFill>
                <a:latin typeface="Arial"/>
              </a:defRPr>
            </a:pPr>
            <a:r>
              <a:t>Outliers are primarily hydrophobic pocket mismatches and complexes containing heavy-metal coordination bonds which violate standard covalent geometries.</a:t>
            </a:r>
          </a:p>
          <a:p>
            <a:pPr>
              <a:spcBef>
                <a:spcPts val="800"/>
              </a:spcBef>
              <a:defRPr sz="1400" b="1">
                <a:solidFill>
                  <a:srgbClr val="0A192F"/>
                </a:solidFill>
                <a:latin typeface="Arial"/>
              </a:defRPr>
            </a:pPr>
            <a:r>
              <a:t>•  Robustness Actions</a:t>
            </a:r>
          </a:p>
          <a:p>
            <a:pPr>
              <a:defRPr sz="1100">
                <a:solidFill>
                  <a:srgbClr val="212529"/>
                </a:solidFill>
                <a:latin typeface="Arial"/>
              </a:defRPr>
            </a:pPr>
            <a:r>
              <a:t>Adding auxiliary spatial coordinates noise injection (robustness augmentation) reduces outlier density by 18%.</a:t>
            </a:r>
          </a:p>
        </p:txBody>
      </p:sp>
      <p:pic>
        <p:nvPicPr>
          <p:cNvPr id="5" name="Picture 4" descr="error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6035040" cy="279233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A192F"/>
                </a:solidFill>
                <a:latin typeface="Arial"/>
              </a:defRPr>
            </a:pPr>
            <a:r>
              <a:t>21. Software Engineering Achievements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Production-Grade Dataset Registry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Immutable Pydantic schemas and metadata tracking (checksum, hashes, git commits) ensure 100% reproducibility across training runs.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Complete Preprocessing Test Suite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Implemented 111 unit tests covering parser registries, alternative location checks, pocket sphere extractions, and graph collators.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Clean Version Control Practices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Comprehensive tracking logs (IMPLEMENTATION_LOG.md and CHANGELOG.md) verify code consistency, archiving all v5.x experimental modules.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Automated Benchmarking Scripts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One-click external validation scripts generate predictions on CASF-2016 coreset, calculating scoring and ranking power instantly.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A192F"/>
                </a:solidFill>
                <a:latin typeface="Arial"/>
              </a:defRPr>
            </a:pPr>
            <a:r>
              <a:t>22. Future Scalability &amp; Improvements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Database Scaling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Integrate PDBbind v2022 dataset to scale training complexes to 18,000+ examples, improving out-of-distribution generalizability.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Hyperparameter Optimization Sweep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Execute large-scale HPO sweeps over model capacity, scaling hidden dimensions to 512, and optimization metrics (SGD vs. AdamW).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Feature Engineering Refinements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Incorporate atomic solvation parameters and receptor residue evolutionary conservation scores to improve embedding representations.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Equivariant GNN Scaling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Enhance EGNN layers with coordinate-aware distance convolutions, targeting Pearson Correlation Coefficient R &gt;= 0.65.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1072865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400" b="1">
                <a:solidFill>
                  <a:srgbClr val="00BFA5"/>
                </a:solidFill>
                <a:latin typeface="Arial"/>
              </a:defRPr>
            </a:pPr>
            <a:r>
              <a:t>CONCLUSION</a:t>
            </a:r>
          </a:p>
          <a:p>
            <a:pPr>
              <a:spcBef>
                <a:spcPts val="1200"/>
              </a:spcBef>
              <a:defRPr sz="1600">
                <a:solidFill>
                  <a:srgbClr val="FFFFFF"/>
                </a:solidFill>
                <a:latin typeface="Arial"/>
              </a:defRPr>
            </a:pPr>
            <a:r>
              <a:t>•  Successfully implemented and validated the frozen LigProtGNN v4.0 architecture on the CASF-2016 benchmark.</a:t>
            </a:r>
          </a:p>
          <a:p>
            <a:pPr>
              <a:spcBef>
                <a:spcPts val="1200"/>
              </a:spcBef>
              <a:defRPr sz="1600">
                <a:solidFill>
                  <a:srgbClr val="FFFFFF"/>
                </a:solidFill>
                <a:latin typeface="Arial"/>
              </a:defRPr>
            </a:pPr>
            <a:r>
              <a:t>•  Engineered robust pre-processing pipelines, achieving 100% dataset parsing coverage on hypervalent compound records.</a:t>
            </a:r>
          </a:p>
          <a:p>
            <a:pPr>
              <a:spcBef>
                <a:spcPts val="1200"/>
              </a:spcBef>
              <a:defRPr sz="1600">
                <a:solidFill>
                  <a:srgbClr val="FFFFFF"/>
                </a:solidFill>
                <a:latin typeface="Arial"/>
              </a:defRPr>
            </a:pPr>
            <a:r>
              <a:t>•  Validated scoring power Pearson R of 0.583 by scaling the database training scope to the full available PDBbind repository.</a:t>
            </a:r>
          </a:p>
          <a:p>
            <a:pPr>
              <a:spcBef>
                <a:spcPts val="1200"/>
              </a:spcBef>
              <a:defRPr sz="1600">
                <a:solidFill>
                  <a:srgbClr val="FFFFFF"/>
                </a:solidFill>
                <a:latin typeface="Arial"/>
              </a:defRPr>
            </a:pPr>
            <a:r>
              <a:t>•  Archived all v5.x experimental modules to preserve core version baseline integrity and reproducibility.</a:t>
            </a:r>
          </a:p>
          <a:p>
            <a:pPr>
              <a:spcBef>
                <a:spcPts val="5000"/>
              </a:spcBef>
              <a:defRPr sz="2000" b="1">
                <a:solidFill>
                  <a:srgbClr val="00BFA5"/>
                </a:solidFill>
                <a:latin typeface="Arial"/>
              </a:defRPr>
            </a:pPr>
            <a:r>
              <a:t>Thank You. Questions &amp; Feedback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2708</Words>
  <Application>Microsoft Office PowerPoint</Application>
  <PresentationFormat>Widescreen</PresentationFormat>
  <Paragraphs>216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 Gupta</cp:lastModifiedBy>
  <cp:revision>2</cp:revision>
  <dcterms:created xsi:type="dcterms:W3CDTF">2013-01-27T09:14:16Z</dcterms:created>
  <dcterms:modified xsi:type="dcterms:W3CDTF">2026-08-05T13:45:07Z</dcterms:modified>
  <cp:category/>
</cp:coreProperties>
</file>